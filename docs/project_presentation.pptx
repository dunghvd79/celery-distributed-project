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731520"/>
            <a:ext cx="10362895" cy="1371600"/>
          </a:xfrm>
          <a:prstGeom prst="rect">
            <a:avLst/>
          </a:prstGeom>
          <a:noFill/>
        </p:spPr>
        <p:txBody>
          <a:bodyPr wrap="square">
            <a:spAutoFit/>
          </a:bodyPr>
          <a:lstStyle/>
          <a:p>
            <a:pPr algn="ctr">
              <a:defRPr sz="4400" b="1">
                <a:solidFill>
                  <a:srgbClr val="1E3A8A"/>
                </a:solidFill>
                <a:latin typeface="Arial"/>
              </a:defRPr>
            </a:pPr>
            <a:r>
              <a:t>Celery – Distributed Task Queue</a:t>
            </a:r>
          </a:p>
          <a:p>
            <a:pPr algn="ctr">
              <a:spcBef>
                <a:spcPts val="1200"/>
              </a:spcBef>
              <a:defRPr sz="1600" b="0">
                <a:solidFill>
                  <a:srgbClr val="334155"/>
                </a:solidFill>
                <a:latin typeface="Arial"/>
              </a:defRPr>
            </a:pPr>
            <a:r>
              <a:t>Ứng dụng phân tán (N05) – Trường Công nghệ thông tin, Đại học Phenikaa</a:t>
            </a:r>
          </a:p>
        </p:txBody>
      </p:sp>
      <p:sp>
        <p:nvSpPr>
          <p:cNvPr id="3" name="Rounded Rectangle 2"/>
          <p:cNvSpPr/>
          <p:nvPr/>
        </p:nvSpPr>
        <p:spPr>
          <a:xfrm>
            <a:off x="1371600" y="2926080"/>
            <a:ext cx="4572000" cy="18288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800" b="1">
                <a:solidFill>
                  <a:srgbClr val="1E3A8A"/>
                </a:solidFill>
                <a:latin typeface="Arial"/>
              </a:defRPr>
            </a:pPr>
            <a:r>
              <a:t>Giảng viên hướng dẫn</a:t>
            </a:r>
          </a:p>
          <a:p>
            <a:pPr>
              <a:spcAft>
                <a:spcPts val="600"/>
              </a:spcAft>
              <a:defRPr sz="1300">
                <a:solidFill>
                  <a:srgbClr val="334155"/>
                </a:solidFill>
                <a:latin typeface="Arial"/>
              </a:defRPr>
            </a:pPr>
            <a:r>
              <a:t>TS. Nguyễn Thành Trung</a:t>
            </a:r>
          </a:p>
        </p:txBody>
      </p:sp>
      <p:sp>
        <p:nvSpPr>
          <p:cNvPr id="4" name="Rounded Rectangle 3"/>
          <p:cNvSpPr/>
          <p:nvPr/>
        </p:nvSpPr>
        <p:spPr>
          <a:xfrm>
            <a:off x="6248095" y="2926080"/>
            <a:ext cx="4572000" cy="18288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800" b="1">
                <a:solidFill>
                  <a:srgbClr val="1E3A8A"/>
                </a:solidFill>
                <a:latin typeface="Arial"/>
              </a:defRPr>
            </a:pPr>
            <a:r>
              <a:t>Thành viên Nhóm 2</a:t>
            </a:r>
          </a:p>
          <a:p>
            <a:pPr>
              <a:spcAft>
                <a:spcPts val="600"/>
              </a:spcAft>
              <a:defRPr sz="1300">
                <a:solidFill>
                  <a:srgbClr val="334155"/>
                </a:solidFill>
                <a:latin typeface="Arial"/>
              </a:defRPr>
            </a:pPr>
            <a:r>
              <a:t>Hoàng Văn Dũng – 23010438</a:t>
            </a:r>
          </a:p>
          <a:p>
            <a:pPr>
              <a:spcAft>
                <a:spcPts val="600"/>
              </a:spcAft>
              <a:defRPr sz="1300">
                <a:solidFill>
                  <a:srgbClr val="334155"/>
                </a:solidFill>
                <a:latin typeface="Arial"/>
              </a:defRPr>
            </a:pPr>
            <a:r>
              <a:t>Nguyễn Hữu Thành Đạt – 23040102</a:t>
            </a:r>
          </a:p>
        </p:txBody>
      </p:sp>
      <p:sp>
        <p:nvSpPr>
          <p:cNvPr id="5" name="Rounded Rectangle 4"/>
          <p:cNvSpPr/>
          <p:nvPr/>
        </p:nvSpPr>
        <p:spPr>
          <a:xfrm>
            <a:off x="1371600" y="5029200"/>
            <a:ext cx="9448495" cy="10972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800" b="1">
                <a:solidFill>
                  <a:srgbClr val="1E3A8A"/>
                </a:solidFill>
                <a:latin typeface="Arial"/>
              </a:defRPr>
            </a:pPr>
            <a:r>
              <a:t>Thời gian thực hiện</a:t>
            </a:r>
          </a:p>
          <a:p>
            <a:pPr>
              <a:spcAft>
                <a:spcPts val="600"/>
              </a:spcAft>
              <a:defRPr sz="1300">
                <a:solidFill>
                  <a:srgbClr val="334155"/>
                </a:solidFill>
                <a:latin typeface="Arial"/>
              </a:defRPr>
            </a:pPr>
            <a:r>
              <a:t>Hà Nội, Tháng 5 năm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000" b="1">
                <a:solidFill>
                  <a:srgbClr val="0D9488"/>
                </a:solidFill>
                <a:latin typeface="Arial"/>
              </a:defRPr>
            </a:pPr>
            <a:r>
              <a:t>ỨNG DỤNG PHÂN TÁN (N05)</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1E3A8A"/>
                </a:solidFill>
                <a:latin typeface="Arial"/>
              </a:defRPr>
            </a:pPr>
            <a:r>
              <a:t>Celery là gì? Tại sao cần sử dụng?</a:t>
            </a:r>
          </a:p>
        </p:txBody>
      </p:sp>
      <p:sp>
        <p:nvSpPr>
          <p:cNvPr id="4" name="Rounded Rectangle 3"/>
          <p:cNvSpPr/>
          <p:nvPr/>
        </p:nvSpPr>
        <p:spPr>
          <a:xfrm>
            <a:off x="731520"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800" b="1">
                <a:solidFill>
                  <a:srgbClr val="0D9488"/>
                </a:solidFill>
                <a:latin typeface="Arial"/>
              </a:defRPr>
            </a:pPr>
            <a:r>
              <a:t>Celery là gì?</a:t>
            </a:r>
          </a:p>
          <a:p>
            <a:pPr>
              <a:spcAft>
                <a:spcPts val="600"/>
              </a:spcAft>
              <a:defRPr sz="1300">
                <a:solidFill>
                  <a:srgbClr val="334155"/>
                </a:solidFill>
                <a:latin typeface="Arial"/>
              </a:defRPr>
            </a:pPr>
            <a:r>
              <a:t>• Là một hàng đợi tác vụ phân tán chạy nền (Distributed Task Queue) mã nguồn mở rất phổ biến trong hệ sinh thái Python.</a:t>
            </a:r>
          </a:p>
          <a:p>
            <a:pPr>
              <a:spcAft>
                <a:spcPts val="600"/>
              </a:spcAft>
              <a:defRPr sz="1300">
                <a:solidFill>
                  <a:srgbClr val="334155"/>
                </a:solidFill>
                <a:latin typeface="Arial"/>
              </a:defRPr>
            </a:pPr>
            <a:r>
              <a:t>• Hoạt động dựa trên cơ chế truyền nhận thông điệp bất đồng bộ (Asynchronous Message Passing) giữa Client và Worker.</a:t>
            </a:r>
          </a:p>
          <a:p>
            <a:pPr>
              <a:spcAft>
                <a:spcPts val="600"/>
              </a:spcAft>
              <a:defRPr sz="1300">
                <a:solidFill>
                  <a:srgbClr val="334155"/>
                </a:solidFill>
                <a:latin typeface="Arial"/>
              </a:defRPr>
            </a:pPr>
            <a:r>
              <a:t>• Hỗ trợ quản lý hàng đợi, lập lịch tác vụ (Periodic Tasks) và phân phối tải linh hoạt trên nhiều máy chủ khác nhau.</a:t>
            </a:r>
          </a:p>
        </p:txBody>
      </p:sp>
      <p:sp>
        <p:nvSpPr>
          <p:cNvPr id="5" name="Rounded Rectangle 4"/>
          <p:cNvSpPr/>
          <p:nvPr/>
        </p:nvSpPr>
        <p:spPr>
          <a:xfrm>
            <a:off x="6339535"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800" b="1">
                <a:solidFill>
                  <a:srgbClr val="7C3AED"/>
                </a:solidFill>
                <a:latin typeface="Arial"/>
              </a:defRPr>
            </a:pPr>
            <a:r>
              <a:t>Celery ra đời giải quyết vấn đề gì?</a:t>
            </a:r>
          </a:p>
          <a:p>
            <a:pPr>
              <a:spcAft>
                <a:spcPts val="600"/>
              </a:spcAft>
              <a:defRPr sz="1300">
                <a:solidFill>
                  <a:srgbClr val="334155"/>
                </a:solidFill>
                <a:latin typeface="Arial"/>
              </a:defRPr>
            </a:pPr>
            <a:r>
              <a:t>• Giải phóng tài nguyên Web Server: Tránh hiện tượng block kết nối HTTP khi xử lý tác vụ nặng (như gửi email SMTP, nén ảnh). Web Server phản hồi ngay lập tức.</a:t>
            </a:r>
          </a:p>
          <a:p>
            <a:pPr>
              <a:spcAft>
                <a:spcPts val="600"/>
              </a:spcAft>
              <a:defRPr sz="1300">
                <a:solidFill>
                  <a:srgbClr val="334155"/>
                </a:solidFill>
                <a:latin typeface="Arial"/>
              </a:defRPr>
            </a:pPr>
            <a:r>
              <a:t>• Ngăn nghẽn cổ chai: Tách biệt hoàn toàn tầng nhận yêu cầu (FastAPI/Django) và tầng thực thi nghiệp vụ (Celery Workers).</a:t>
            </a:r>
          </a:p>
          <a:p>
            <a:pPr>
              <a:spcAft>
                <a:spcPts val="600"/>
              </a:spcAft>
              <a:defRPr sz="1300">
                <a:solidFill>
                  <a:srgbClr val="334155"/>
                </a:solidFill>
                <a:latin typeface="Arial"/>
              </a:defRPr>
            </a:pPr>
            <a:r>
              <a:t>• Tăng độ ổn định hệ thống: Cung cấp cơ chế tự động thử lại (Retry) khi các tác vụ gọi API bên thứ ba bị chập chờn.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000" b="1">
                <a:solidFill>
                  <a:srgbClr val="0D9488"/>
                </a:solidFill>
                <a:latin typeface="Arial"/>
              </a:defRPr>
            </a:pPr>
            <a:r>
              <a:t>ỨNG DỤNG PHÂN TÁN (N05)</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1E3A8A"/>
                </a:solidFill>
                <a:latin typeface="Arial"/>
              </a:defRPr>
            </a:pPr>
            <a:r>
              <a:t>Sơ đồ kiến trúc tổng thể của Celery</a:t>
            </a:r>
          </a:p>
        </p:txBody>
      </p:sp>
      <p:sp>
        <p:nvSpPr>
          <p:cNvPr id="4" name="Rounded Rectangle 3"/>
          <p:cNvSpPr/>
          <p:nvPr/>
        </p:nvSpPr>
        <p:spPr>
          <a:xfrm>
            <a:off x="1828800" y="1645920"/>
            <a:ext cx="8534095" cy="822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D9488"/>
                </a:solidFill>
              </a:defRPr>
            </a:pPr>
            <a:r>
              <a:t>TẦNG SẢN XUẤT (PRODUCERS)</a:t>
            </a:r>
          </a:p>
          <a:p>
            <a:pPr algn="ctr">
              <a:defRPr sz="1200">
                <a:solidFill>
                  <a:srgbClr val="334155"/>
                </a:solidFill>
              </a:defRPr>
            </a:pPr>
            <a:r>
              <a:t>Các Web Application (FastAPI, Django, Flask) tạo và gửi yêu cầu tác vụ qua mạng</a:t>
            </a:r>
          </a:p>
        </p:txBody>
      </p:sp>
      <p:sp>
        <p:nvSpPr>
          <p:cNvPr id="5" name="TextBox 4"/>
          <p:cNvSpPr txBox="1"/>
          <p:nvPr/>
        </p:nvSpPr>
        <p:spPr>
          <a:xfrm>
            <a:off x="1828800" y="2514600"/>
            <a:ext cx="8534095" cy="365760"/>
          </a:xfrm>
          <a:prstGeom prst="rect">
            <a:avLst/>
          </a:prstGeom>
          <a:noFill/>
        </p:spPr>
        <p:txBody>
          <a:bodyPr wrap="none">
            <a:spAutoFit/>
          </a:bodyPr>
          <a:lstStyle/>
          <a:p>
            <a:pPr algn="ctr">
              <a:defRPr sz="1100" i="1">
                <a:solidFill>
                  <a:srgbClr val="7C3AED"/>
                </a:solidFill>
              </a:defRPr>
            </a:pPr>
            <a:r>
              <a:t>↓  1. Kích hoạt và Đóng gói Task (JSON)  ↓</a:t>
            </a:r>
          </a:p>
        </p:txBody>
      </p:sp>
      <p:sp>
        <p:nvSpPr>
          <p:cNvPr id="6" name="Rounded Rectangle 5"/>
          <p:cNvSpPr/>
          <p:nvPr/>
        </p:nvSpPr>
        <p:spPr>
          <a:xfrm>
            <a:off x="1828800" y="2926080"/>
            <a:ext cx="8534095" cy="9144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D9488"/>
                </a:solidFill>
              </a:defRPr>
            </a:pPr>
            <a:r>
              <a:t>TẦNG TRUNG GIAN ĐIỀU PHỐI (MESSAGE BROKER)</a:t>
            </a:r>
          </a:p>
          <a:p>
            <a:pPr algn="ctr">
              <a:defRPr sz="1100">
                <a:solidFill>
                  <a:srgbClr val="334155"/>
                </a:solidFill>
              </a:defRPr>
            </a:pPr>
            <a:r>
              <a:t>[ RabbitMQ / Redis Message Broker ]</a:t>
            </a:r>
            <a:br/>
            <a:r>
              <a:t>- Nhận thông điệp  - Xếp hàng đợi (Queue)  - Phân phối tin nhắn cho Worker rảnh</a:t>
            </a:r>
          </a:p>
        </p:txBody>
      </p:sp>
      <p:sp>
        <p:nvSpPr>
          <p:cNvPr id="7" name="TextBox 6"/>
          <p:cNvSpPr txBox="1"/>
          <p:nvPr/>
        </p:nvSpPr>
        <p:spPr>
          <a:xfrm>
            <a:off x="1828800" y="3886200"/>
            <a:ext cx="8534095" cy="365760"/>
          </a:xfrm>
          <a:prstGeom prst="rect">
            <a:avLst/>
          </a:prstGeom>
          <a:noFill/>
        </p:spPr>
        <p:txBody>
          <a:bodyPr wrap="none">
            <a:spAutoFit/>
          </a:bodyPr>
          <a:lstStyle/>
          <a:p>
            <a:pPr algn="ctr">
              <a:defRPr sz="1100" i="1">
                <a:solidFill>
                  <a:srgbClr val="7C3AED"/>
                </a:solidFill>
              </a:defRPr>
            </a:pPr>
            <a:r>
              <a:t>↓  2. Đẩy / Kéo Task theo cơ chế Fair-Dispatch  ↓</a:t>
            </a:r>
          </a:p>
        </p:txBody>
      </p:sp>
      <p:sp>
        <p:nvSpPr>
          <p:cNvPr id="8" name="Rounded Rectangle 7"/>
          <p:cNvSpPr/>
          <p:nvPr/>
        </p:nvSpPr>
        <p:spPr>
          <a:xfrm>
            <a:off x="1828800" y="4297680"/>
            <a:ext cx="8534095" cy="9144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D9488"/>
                </a:solidFill>
              </a:defRPr>
            </a:pPr>
            <a:r>
              <a:t>TẦNG XỬ LÝ PHÂN TÁN (CELERY WORKERS)</a:t>
            </a:r>
          </a:p>
          <a:p>
            <a:pPr algn="ctr">
              <a:defRPr sz="1100">
                <a:solidFill>
                  <a:srgbClr val="334155"/>
                </a:solidFill>
              </a:defRPr>
            </a:pPr>
            <a:r>
              <a:t>Các Worker Node chạy song song trên nhiều máy chủ độc lập</a:t>
            </a:r>
            <a:br/>
            <a:r>
              <a:t>[ Worker Node 1 ]       [ Worker Node 2 ]       [ Worker Node N ]</a:t>
            </a:r>
          </a:p>
        </p:txBody>
      </p:sp>
      <p:sp>
        <p:nvSpPr>
          <p:cNvPr id="9" name="TextBox 8"/>
          <p:cNvSpPr txBox="1"/>
          <p:nvPr/>
        </p:nvSpPr>
        <p:spPr>
          <a:xfrm>
            <a:off x="1828800" y="5257800"/>
            <a:ext cx="8534095" cy="365760"/>
          </a:xfrm>
          <a:prstGeom prst="rect">
            <a:avLst/>
          </a:prstGeom>
          <a:noFill/>
        </p:spPr>
        <p:txBody>
          <a:bodyPr wrap="none">
            <a:spAutoFit/>
          </a:bodyPr>
          <a:lstStyle/>
          <a:p>
            <a:pPr algn="ctr">
              <a:defRPr sz="1100" i="1">
                <a:solidFill>
                  <a:srgbClr val="7C3AED"/>
                </a:solidFill>
              </a:defRPr>
            </a:pPr>
            <a:r>
              <a:t>↓  3. Ghi nhận trạng thái xử lý và kết quả  ↓</a:t>
            </a:r>
          </a:p>
        </p:txBody>
      </p:sp>
      <p:sp>
        <p:nvSpPr>
          <p:cNvPr id="10" name="Rounded Rectangle 9"/>
          <p:cNvSpPr/>
          <p:nvPr/>
        </p:nvSpPr>
        <p:spPr>
          <a:xfrm>
            <a:off x="1828800" y="5669280"/>
            <a:ext cx="8534095" cy="7315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0D9488"/>
                </a:solidFill>
              </a:defRPr>
            </a:pPr>
            <a:r>
              <a:t>TẦNG LƯU TRỮ KẾT QUẢ (RESULT BACKEND)</a:t>
            </a:r>
          </a:p>
          <a:p>
            <a:pPr algn="ctr">
              <a:defRPr sz="1100">
                <a:solidFill>
                  <a:srgbClr val="334155"/>
                </a:solidFill>
              </a:defRPr>
            </a:pPr>
            <a:r>
              <a:t>[ Redis Database / PostgreSQL / Memcached ] để lưu giá trị trả về và thông tin lỗi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000" b="1">
                <a:solidFill>
                  <a:srgbClr val="0D9488"/>
                </a:solidFill>
                <a:latin typeface="Arial"/>
              </a:defRPr>
            </a:pPr>
            <a:r>
              <a:t>ỨNG DỤNG PHÂN TÁN (N05)</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1E3A8A"/>
                </a:solidFill>
                <a:latin typeface="Arial"/>
              </a:defRPr>
            </a:pPr>
            <a:r>
              <a:t>Các tính năng cốt lõi của Celery (Phần 1)</a:t>
            </a:r>
          </a:p>
        </p:txBody>
      </p:sp>
      <p:sp>
        <p:nvSpPr>
          <p:cNvPr id="4" name="Rounded Rectangle 3"/>
          <p:cNvSpPr/>
          <p:nvPr/>
        </p:nvSpPr>
        <p:spPr>
          <a:xfrm>
            <a:off x="731520"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800" b="1">
                <a:solidFill>
                  <a:srgbClr val="0D9488"/>
                </a:solidFill>
                <a:latin typeface="Arial"/>
              </a:defRPr>
            </a:pPr>
            <a:r>
              <a:t>1. Xử lý tác vụ Bất đồng bộ (Async - TN1)</a:t>
            </a:r>
          </a:p>
          <a:p>
            <a:pPr>
              <a:spcAft>
                <a:spcPts val="600"/>
              </a:spcAft>
              <a:defRPr sz="1300">
                <a:solidFill>
                  <a:srgbClr val="334155"/>
                </a:solidFill>
                <a:latin typeface="Arial"/>
              </a:defRPr>
            </a:pPr>
            <a:r>
              <a:t>• Luồng hoạt động:</a:t>
            </a:r>
          </a:p>
          <a:p>
            <a:pPr>
              <a:spcAft>
                <a:spcPts val="600"/>
              </a:spcAft>
              <a:defRPr sz="1300">
                <a:solidFill>
                  <a:srgbClr val="334155"/>
                </a:solidFill>
                <a:latin typeface="Arial"/>
              </a:defRPr>
            </a:pPr>
            <a:r>
              <a:t>  FastAPI nhận HTTP request -&gt; Đẩy tác vụ vào Broker -&gt; Trả ngay mã Task ID cho Client (Response Time &lt; 10ms).</a:t>
            </a:r>
          </a:p>
          <a:p>
            <a:pPr>
              <a:spcAft>
                <a:spcPts val="600"/>
              </a:spcAft>
              <a:defRPr sz="1300">
                <a:solidFill>
                  <a:srgbClr val="334155"/>
                </a:solidFill>
                <a:latin typeface="Arial"/>
              </a:defRPr>
            </a:pPr>
            <a:r>
              <a:t>• Ví dụ thực tế: Tác vụ gửi Email hàng loạt.</a:t>
            </a:r>
          </a:p>
          <a:p>
            <a:pPr>
              <a:spcAft>
                <a:spcPts val="600"/>
              </a:spcAft>
              <a:defRPr sz="1300">
                <a:solidFill>
                  <a:srgbClr val="334155"/>
                </a:solidFill>
                <a:latin typeface="Arial"/>
              </a:defRPr>
            </a:pPr>
            <a:r>
              <a:t>  Giúp giải phóng tài nguyên Web Server tức thời, loại bỏ thời gian chờ đợi phản hồi từ máy chủ SMTP.</a:t>
            </a:r>
          </a:p>
          <a:p>
            <a:pPr>
              <a:spcAft>
                <a:spcPts val="600"/>
              </a:spcAft>
              <a:defRPr sz="1300">
                <a:solidFill>
                  <a:srgbClr val="334155"/>
                </a:solidFill>
                <a:latin typeface="Arial"/>
              </a:defRPr>
            </a:pPr>
            <a:r>
              <a:t>• Thống kê hiệu năng:</a:t>
            </a:r>
          </a:p>
          <a:p>
            <a:pPr>
              <a:spcAft>
                <a:spcPts val="600"/>
              </a:spcAft>
              <a:defRPr sz="1300">
                <a:solidFill>
                  <a:srgbClr val="334155"/>
                </a:solidFill>
                <a:latin typeface="Arial"/>
              </a:defRPr>
            </a:pPr>
            <a:r>
              <a:t>  Thời gian phản hồi API giảm mạnh từ ~3.0 giây xuống dưới 0.01 giây.</a:t>
            </a:r>
          </a:p>
        </p:txBody>
      </p:sp>
      <p:sp>
        <p:nvSpPr>
          <p:cNvPr id="5" name="Rounded Rectangle 4"/>
          <p:cNvSpPr/>
          <p:nvPr/>
        </p:nvSpPr>
        <p:spPr>
          <a:xfrm>
            <a:off x="6339535"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800" b="1">
                <a:solidFill>
                  <a:srgbClr val="7C3AED"/>
                </a:solidFill>
                <a:latin typeface="Arial"/>
              </a:defRPr>
            </a:pPr>
            <a:r>
              <a:t>2. Xử lý tác vụ nặng độc lập (CPU-bound - TN2)</a:t>
            </a:r>
          </a:p>
          <a:p>
            <a:pPr>
              <a:spcAft>
                <a:spcPts val="600"/>
              </a:spcAft>
              <a:defRPr sz="1300">
                <a:solidFill>
                  <a:srgbClr val="334155"/>
                </a:solidFill>
                <a:latin typeface="Arial"/>
              </a:defRPr>
            </a:pPr>
            <a:r>
              <a:t>• Luồng hoạt động:</a:t>
            </a:r>
          </a:p>
          <a:p>
            <a:pPr>
              <a:spcAft>
                <a:spcPts val="600"/>
              </a:spcAft>
              <a:defRPr sz="1300">
                <a:solidFill>
                  <a:srgbClr val="334155"/>
                </a:solidFill>
                <a:latin typeface="Arial"/>
              </a:defRPr>
            </a:pPr>
            <a:r>
              <a:t>  Tác vụ xử lý ảnh dung lượng lớn, tạo ảnh đại diện (thumbnail) được ủy thác cho Worker xử lý độc lập.</a:t>
            </a:r>
          </a:p>
          <a:p>
            <a:pPr>
              <a:spcAft>
                <a:spcPts val="600"/>
              </a:spcAft>
              <a:defRPr sz="1300">
                <a:solidFill>
                  <a:srgbClr val="334155"/>
                </a:solidFill>
                <a:latin typeface="Arial"/>
              </a:defRPr>
            </a:pPr>
            <a:r>
              <a:t>• Tận dụng tài nguyên:</a:t>
            </a:r>
          </a:p>
          <a:p>
            <a:pPr>
              <a:spcAft>
                <a:spcPts val="600"/>
              </a:spcAft>
              <a:defRPr sz="1300">
                <a:solidFill>
                  <a:srgbClr val="334155"/>
                </a:solidFill>
                <a:latin typeface="Arial"/>
              </a:defRPr>
            </a:pPr>
            <a:r>
              <a:t>  Chạy ngầm tách biệt hoàn toàn giúp Web Server chính không bị quá tải tài nguyên hệ thống hoặc hết luồng xử lý CPU.</a:t>
            </a:r>
          </a:p>
          <a:p>
            <a:pPr>
              <a:spcAft>
                <a:spcPts val="600"/>
              </a:spcAft>
              <a:defRPr sz="1300">
                <a:solidFill>
                  <a:srgbClr val="334155"/>
                </a:solidFill>
                <a:latin typeface="Arial"/>
              </a:defRPr>
            </a:pPr>
            <a:r>
              <a:t>• Trải nghiệm người dùng:</a:t>
            </a:r>
          </a:p>
          <a:p>
            <a:pPr>
              <a:spcAft>
                <a:spcPts val="600"/>
              </a:spcAft>
              <a:defRPr sz="1300">
                <a:solidFill>
                  <a:srgbClr val="334155"/>
                </a:solidFill>
                <a:latin typeface="Arial"/>
              </a:defRPr>
            </a:pPr>
            <a:r>
              <a:t>  Giao diện Web hoạt động mượt mà, người dùng có thể tiếp tục thao tác các luồng chức năng khác trên ứng dụng.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000" b="1">
                <a:solidFill>
                  <a:srgbClr val="0D9488"/>
                </a:solidFill>
                <a:latin typeface="Arial"/>
              </a:defRPr>
            </a:pPr>
            <a:r>
              <a:t>ỨNG DỤNG PHÂN TÁN (N05)</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1E3A8A"/>
                </a:solidFill>
                <a:latin typeface="Arial"/>
              </a:defRPr>
            </a:pPr>
            <a:r>
              <a:t>Các tính năng cốt lõi của Celery (Phần 2)</a:t>
            </a:r>
          </a:p>
        </p:txBody>
      </p:sp>
      <p:sp>
        <p:nvSpPr>
          <p:cNvPr id="4" name="Rounded Rectangle 3"/>
          <p:cNvSpPr/>
          <p:nvPr/>
        </p:nvSpPr>
        <p:spPr>
          <a:xfrm>
            <a:off x="731520"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800" b="1">
                <a:solidFill>
                  <a:srgbClr val="0D9488"/>
                </a:solidFill>
                <a:latin typeface="Arial"/>
              </a:defRPr>
            </a:pPr>
            <a:r>
              <a:t>3. Theo dõi tiến trình thời gian thực (Progress - TN3)</a:t>
            </a:r>
          </a:p>
          <a:p>
            <a:pPr>
              <a:spcAft>
                <a:spcPts val="600"/>
              </a:spcAft>
              <a:defRPr sz="1300">
                <a:solidFill>
                  <a:srgbClr val="334155"/>
                </a:solidFill>
                <a:latin typeface="Arial"/>
              </a:defRPr>
            </a:pPr>
            <a:r>
              <a:t>• Luồng hoạt động:</a:t>
            </a:r>
          </a:p>
          <a:p>
            <a:pPr>
              <a:spcAft>
                <a:spcPts val="600"/>
              </a:spcAft>
              <a:defRPr sz="1300">
                <a:solidFill>
                  <a:srgbClr val="334155"/>
                </a:solidFill>
                <a:latin typeface="Arial"/>
              </a:defRPr>
            </a:pPr>
            <a:r>
              <a:t>  Worker cập nhật trạng thái tác vụ lên Redis thông qua API: self.update_state(state='PROGRESS', meta=...).</a:t>
            </a:r>
          </a:p>
          <a:p>
            <a:pPr>
              <a:spcAft>
                <a:spcPts val="600"/>
              </a:spcAft>
              <a:defRPr sz="1300">
                <a:solidFill>
                  <a:srgbClr val="334155"/>
                </a:solidFill>
                <a:latin typeface="Arial"/>
              </a:defRPr>
            </a:pPr>
            <a:r>
              <a:t>• Cập nhật động:</a:t>
            </a:r>
          </a:p>
          <a:p>
            <a:pPr>
              <a:spcAft>
                <a:spcPts val="600"/>
              </a:spcAft>
              <a:defRPr sz="1300">
                <a:solidFill>
                  <a:srgbClr val="334155"/>
                </a:solidFill>
                <a:latin typeface="Arial"/>
              </a:defRPr>
            </a:pPr>
            <a:r>
              <a:t>  Giúp client liên tục gửi request truy vấn tiến độ (10%, 40%, 70%, 90%) dựa trên Task ID.</a:t>
            </a:r>
          </a:p>
          <a:p>
            <a:pPr>
              <a:spcAft>
                <a:spcPts val="600"/>
              </a:spcAft>
              <a:defRPr sz="1300">
                <a:solidFill>
                  <a:srgbClr val="334155"/>
                </a:solidFill>
                <a:latin typeface="Arial"/>
              </a:defRPr>
            </a:pPr>
            <a:r>
              <a:t>• Ứng dụng thực tế:</a:t>
            </a:r>
          </a:p>
          <a:p>
            <a:pPr>
              <a:spcAft>
                <a:spcPts val="600"/>
              </a:spcAft>
              <a:defRPr sz="1300">
                <a:solidFill>
                  <a:srgbClr val="334155"/>
                </a:solidFill>
                <a:latin typeface="Arial"/>
              </a:defRPr>
            </a:pPr>
            <a:r>
              <a:t>  Vẽ thanh tiến trình trực quan cho các tác vụ tốn nhiều thời gian như truy vấn cơ sở dữ liệu lớn và xuất file báo cáo PDF.</a:t>
            </a:r>
          </a:p>
        </p:txBody>
      </p:sp>
      <p:sp>
        <p:nvSpPr>
          <p:cNvPr id="5" name="Rounded Rectangle 4"/>
          <p:cNvSpPr/>
          <p:nvPr/>
        </p:nvSpPr>
        <p:spPr>
          <a:xfrm>
            <a:off x="6339535"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800" b="1">
                <a:solidFill>
                  <a:srgbClr val="7C3AED"/>
                </a:solidFill>
                <a:latin typeface="Arial"/>
              </a:defRPr>
            </a:pPr>
            <a:r>
              <a:t>4. Định nghĩa quy trình phối hợp (Workflows - TN4)</a:t>
            </a:r>
          </a:p>
          <a:p>
            <a:pPr>
              <a:spcAft>
                <a:spcPts val="600"/>
              </a:spcAft>
              <a:defRPr sz="1300">
                <a:solidFill>
                  <a:srgbClr val="334155"/>
                </a:solidFill>
                <a:latin typeface="Arial"/>
              </a:defRPr>
            </a:pPr>
            <a:r>
              <a:t>• Celery Group (TN4.1 - Song song):</a:t>
            </a:r>
          </a:p>
          <a:p>
            <a:pPr>
              <a:spcAft>
                <a:spcPts val="600"/>
              </a:spcAft>
              <a:defRPr sz="1300">
                <a:solidFill>
                  <a:srgbClr val="334155"/>
                </a:solidFill>
                <a:latin typeface="Arial"/>
              </a:defRPr>
            </a:pPr>
            <a:r>
              <a:t>  Nhóm nhiều tác vụ chạy song song cùng lúc (ví dụ: tạo 3 kích cỡ ảnh avatar, banner, thumbnail). Tối ưu hóa tối đa thời gian xử lý tổng thể.</a:t>
            </a:r>
          </a:p>
          <a:p>
            <a:pPr>
              <a:spcAft>
                <a:spcPts val="600"/>
              </a:spcAft>
              <a:defRPr sz="1300">
                <a:solidFill>
                  <a:srgbClr val="334155"/>
                </a:solidFill>
                <a:latin typeface="Arial"/>
              </a:defRPr>
            </a:pPr>
            <a:r>
              <a:t>• Celery Chain (TN4.2 - Tuần tự):</a:t>
            </a:r>
          </a:p>
          <a:p>
            <a:pPr>
              <a:spcAft>
                <a:spcPts val="600"/>
              </a:spcAft>
              <a:defRPr sz="1300">
                <a:solidFill>
                  <a:srgbClr val="334155"/>
                </a:solidFill>
                <a:latin typeface="Arial"/>
              </a:defRPr>
            </a:pPr>
            <a:r>
              <a:t>  Kết nối các tác vụ chạy nối tiếp nhau, kết quả đầu ra của tác vụ trước là đầu vào của tác vụ sau.</a:t>
            </a:r>
          </a:p>
          <a:p>
            <a:pPr>
              <a:spcAft>
                <a:spcPts val="600"/>
              </a:spcAft>
              <a:defRPr sz="1300">
                <a:solidFill>
                  <a:srgbClr val="334155"/>
                </a:solidFill>
                <a:latin typeface="Arial"/>
              </a:defRPr>
            </a:pPr>
            <a:r>
              <a:t>• Ý nghĩa:</a:t>
            </a:r>
          </a:p>
          <a:p>
            <a:pPr>
              <a:spcAft>
                <a:spcPts val="600"/>
              </a:spcAft>
              <a:defRPr sz="1300">
                <a:solidFill>
                  <a:srgbClr val="334155"/>
                </a:solidFill>
                <a:latin typeface="Arial"/>
              </a:defRPr>
            </a:pPr>
            <a:r>
              <a:t>  Xây dựng các luồng xử lý phức tạp một cách dễ dàng thông qua cú pháp code Python ngắn gọn.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000" b="1">
                <a:solidFill>
                  <a:srgbClr val="0D9488"/>
                </a:solidFill>
                <a:latin typeface="Arial"/>
              </a:defRPr>
            </a:pPr>
            <a:r>
              <a:t>ỨNG DỤNG PHÂN TÁN (N05)</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1E3A8A"/>
                </a:solidFill>
                <a:latin typeface="Arial"/>
              </a:defRPr>
            </a:pPr>
            <a:r>
              <a:t>Tính năng nâng cao: Khóa phân tán (Distributed Lock)</a:t>
            </a:r>
          </a:p>
        </p:txBody>
      </p:sp>
      <p:sp>
        <p:nvSpPr>
          <p:cNvPr id="4" name="Rounded Rectangle 3"/>
          <p:cNvSpPr/>
          <p:nvPr/>
        </p:nvSpPr>
        <p:spPr>
          <a:xfrm>
            <a:off x="731520"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800" b="1">
                <a:solidFill>
                  <a:srgbClr val="1E3A8A"/>
                </a:solidFill>
                <a:latin typeface="Arial"/>
              </a:defRPr>
            </a:pPr>
            <a:r>
              <a:t>Đặt vấn đề: Bài toán Race Condition</a:t>
            </a:r>
          </a:p>
          <a:p>
            <a:pPr>
              <a:spcAft>
                <a:spcPts val="600"/>
              </a:spcAft>
              <a:defRPr sz="1300">
                <a:solidFill>
                  <a:srgbClr val="334155"/>
                </a:solidFill>
                <a:latin typeface="Arial"/>
              </a:defRPr>
            </a:pPr>
            <a:r>
              <a:t>• Tình huống xảy ra:</a:t>
            </a:r>
          </a:p>
          <a:p>
            <a:pPr>
              <a:spcAft>
                <a:spcPts val="600"/>
              </a:spcAft>
              <a:defRPr sz="1300">
                <a:solidFill>
                  <a:srgbClr val="334155"/>
                </a:solidFill>
                <a:latin typeface="Arial"/>
              </a:defRPr>
            </a:pPr>
            <a:r>
              <a:t>  Khi người dùng nhấn nút 'Thanh toán' liên tiếp 2 lần do mạng lag hoặc cố tình gửi đồng thời các yêu cầu giao dịch.</a:t>
            </a:r>
          </a:p>
          <a:p>
            <a:pPr>
              <a:spcAft>
                <a:spcPts val="600"/>
              </a:spcAft>
              <a:defRPr sz="1300">
                <a:solidFill>
                  <a:srgbClr val="334155"/>
                </a:solidFill>
                <a:latin typeface="Arial"/>
              </a:defRPr>
            </a:pPr>
            <a:r>
              <a:t>• Hậu quả thực tế:</a:t>
            </a:r>
          </a:p>
          <a:p>
            <a:pPr>
              <a:spcAft>
                <a:spcPts val="600"/>
              </a:spcAft>
              <a:defRPr sz="1300">
                <a:solidFill>
                  <a:srgbClr val="334155"/>
                </a:solidFill>
                <a:latin typeface="Arial"/>
              </a:defRPr>
            </a:pPr>
            <a:r>
              <a:t>  Hệ thống xử lý hai tác vụ cùng lúc mà không có cơ chế chặn, dẫn đến việc tài khoản người dùng bị trừ tiền 2 lần (Race Condition).</a:t>
            </a:r>
          </a:p>
          <a:p>
            <a:pPr>
              <a:spcAft>
                <a:spcPts val="600"/>
              </a:spcAft>
              <a:defRPr sz="1300">
                <a:solidFill>
                  <a:srgbClr val="334155"/>
                </a:solidFill>
                <a:latin typeface="Arial"/>
              </a:defRPr>
            </a:pPr>
            <a:r>
              <a:t>• Yêu cầu bài toán:</a:t>
            </a:r>
          </a:p>
          <a:p>
            <a:pPr>
              <a:spcAft>
                <a:spcPts val="600"/>
              </a:spcAft>
              <a:defRPr sz="1300">
                <a:solidFill>
                  <a:srgbClr val="334155"/>
                </a:solidFill>
                <a:latin typeface="Arial"/>
              </a:defRPr>
            </a:pPr>
            <a:r>
              <a:t>  Phải thiết lập cơ chế khóa đồng bộ trên toàn mạng lưới phân tán để chỉ cho phép một tác vụ chạy tại một thời điểm.</a:t>
            </a:r>
          </a:p>
        </p:txBody>
      </p:sp>
      <p:sp>
        <p:nvSpPr>
          <p:cNvPr id="5" name="Rounded Rectangle 4"/>
          <p:cNvSpPr/>
          <p:nvPr/>
        </p:nvSpPr>
        <p:spPr>
          <a:xfrm>
            <a:off x="6339535"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800" b="1">
                <a:solidFill>
                  <a:srgbClr val="0D9488"/>
                </a:solidFill>
                <a:latin typeface="Arial"/>
              </a:defRPr>
            </a:pPr>
            <a:r>
              <a:t>Hạn chế của cơ chế khóa cục bộ (Local Lock)</a:t>
            </a:r>
          </a:p>
          <a:p>
            <a:pPr>
              <a:spcAft>
                <a:spcPts val="600"/>
              </a:spcAft>
              <a:defRPr sz="1300">
                <a:solidFill>
                  <a:srgbClr val="334155"/>
                </a:solidFill>
                <a:latin typeface="Arial"/>
              </a:defRPr>
            </a:pPr>
            <a:r>
              <a:t>• Không hoạt động trong môi trường phân tán:</a:t>
            </a:r>
          </a:p>
          <a:p>
            <a:pPr>
              <a:spcAft>
                <a:spcPts val="600"/>
              </a:spcAft>
              <a:defRPr sz="1300">
                <a:solidFill>
                  <a:srgbClr val="334155"/>
                </a:solidFill>
                <a:latin typeface="Arial"/>
              </a:defRPr>
            </a:pPr>
            <a:r>
              <a:t>  Các cơ chế khóa đồng bộ thông thường (như threading.Lock trong Python) chỉ có tác dụng trong phạm vi 1 tiến trình.</a:t>
            </a:r>
          </a:p>
          <a:p>
            <a:pPr>
              <a:spcAft>
                <a:spcPts val="600"/>
              </a:spcAft>
              <a:defRPr sz="1300">
                <a:solidFill>
                  <a:srgbClr val="334155"/>
                </a:solidFill>
                <a:latin typeface="Arial"/>
              </a:defRPr>
            </a:pPr>
            <a:r>
              <a:t>• Thách thức với Multi-Worker:</a:t>
            </a:r>
          </a:p>
          <a:p>
            <a:pPr>
              <a:spcAft>
                <a:spcPts val="600"/>
              </a:spcAft>
              <a:defRPr sz="1300">
                <a:solidFill>
                  <a:srgbClr val="334155"/>
                </a:solidFill>
                <a:latin typeface="Arial"/>
              </a:defRPr>
            </a:pPr>
            <a:r>
              <a:t>  Khi các tác vụ chạy trên nhiều máy chủ Worker độc lập khác nhau, chúng không thể giao tiếp trực tiếp để khóa lẫn nhau.</a:t>
            </a:r>
          </a:p>
          <a:p>
            <a:pPr>
              <a:spcAft>
                <a:spcPts val="600"/>
              </a:spcAft>
              <a:defRPr sz="1300">
                <a:solidFill>
                  <a:srgbClr val="334155"/>
                </a:solidFill>
                <a:latin typeface="Arial"/>
              </a:defRPr>
            </a:pPr>
            <a:r>
              <a:t>• Giải pháp:</a:t>
            </a:r>
          </a:p>
          <a:p>
            <a:pPr>
              <a:spcAft>
                <a:spcPts val="600"/>
              </a:spcAft>
              <a:defRPr sz="1300">
                <a:solidFill>
                  <a:srgbClr val="334155"/>
                </a:solidFill>
                <a:latin typeface="Arial"/>
              </a:defRPr>
            </a:pPr>
            <a:r>
              <a:t>  Cần một hệ thống quản lý khóa tập trung có tốc độ truy xuất cực nhanh nằm ngoài phạm vi các Worker (Redis Lock).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000" b="1">
                <a:solidFill>
                  <a:srgbClr val="0D9488"/>
                </a:solidFill>
                <a:latin typeface="Arial"/>
              </a:defRPr>
            </a:pPr>
            <a:r>
              <a:t>ỨNG DỤNG PHÂN TÁN (N05)</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1E3A8A"/>
                </a:solidFill>
                <a:latin typeface="Arial"/>
              </a:defRPr>
            </a:pPr>
            <a:r>
              <a:t>Giải pháp Khóa phân tán sử dụng Redis Lock</a:t>
            </a:r>
          </a:p>
        </p:txBody>
      </p:sp>
      <p:sp>
        <p:nvSpPr>
          <p:cNvPr id="4" name="Rounded Rectangle 3"/>
          <p:cNvSpPr/>
          <p:nvPr/>
        </p:nvSpPr>
        <p:spPr>
          <a:xfrm>
            <a:off x="731520"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800" b="1">
                <a:solidFill>
                  <a:srgbClr val="0D9488"/>
                </a:solidFill>
                <a:latin typeface="Arial"/>
              </a:defRPr>
            </a:pPr>
            <a:r>
              <a:t>Cơ chế giải quyết của Redis Lock (TN5)</a:t>
            </a:r>
          </a:p>
          <a:p>
            <a:pPr>
              <a:spcAft>
                <a:spcPts val="600"/>
              </a:spcAft>
              <a:defRPr sz="1300">
                <a:solidFill>
                  <a:srgbClr val="334155"/>
                </a:solidFill>
                <a:latin typeface="Arial"/>
              </a:defRPr>
            </a:pPr>
            <a:r>
              <a:t>1. Tác vụ 1 chạy -&gt; Thiết lập một khóa duy nhất trên Redis gắn với mã hóa đơn (ví dụ: lock:payment:TXN_12345).</a:t>
            </a:r>
          </a:p>
          <a:p>
            <a:pPr>
              <a:spcAft>
                <a:spcPts val="600"/>
              </a:spcAft>
              <a:defRPr sz="1300">
                <a:solidFill>
                  <a:srgbClr val="334155"/>
                </a:solidFill>
                <a:latin typeface="Arial"/>
              </a:defRPr>
            </a:pPr>
            <a:r>
              <a:t>2. Tác vụ 2 chạy song song -&gt; Lên Redis kiểm tra thấy khóa đã tồn tại.</a:t>
            </a:r>
          </a:p>
          <a:p>
            <a:pPr>
              <a:spcAft>
                <a:spcPts val="600"/>
              </a:spcAft>
              <a:defRPr sz="1300">
                <a:solidFill>
                  <a:srgbClr val="334155"/>
                </a:solidFill>
                <a:latin typeface="Arial"/>
              </a:defRPr>
            </a:pPr>
            <a:r>
              <a:t>3. Tác vụ 2 chủ động hủy bỏ thực thi ngay lập tức thông qua câu lệnh: raise Ignore().</a:t>
            </a:r>
          </a:p>
          <a:p>
            <a:pPr>
              <a:spcAft>
                <a:spcPts val="600"/>
              </a:spcAft>
              <a:defRPr sz="1300">
                <a:solidFill>
                  <a:srgbClr val="334155"/>
                </a:solidFill>
                <a:latin typeface="Arial"/>
              </a:defRPr>
            </a:pPr>
            <a:r>
              <a:t>4. Tác vụ 1 hoàn thành thanh toán -&gt; Giải phóng khóa trên Redis để đón nhận giao dịch mới.</a:t>
            </a:r>
          </a:p>
        </p:txBody>
      </p:sp>
      <p:sp>
        <p:nvSpPr>
          <p:cNvPr id="5" name="Rounded Rectangle 4"/>
          <p:cNvSpPr/>
          <p:nvPr/>
        </p:nvSpPr>
        <p:spPr>
          <a:xfrm>
            <a:off x="6339535"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800" b="1">
                <a:solidFill>
                  <a:srgbClr val="7C3AED"/>
                </a:solidFill>
                <a:latin typeface="Arial"/>
              </a:defRPr>
            </a:pPr>
            <a:r>
              <a:t>Kết quả thử nghiệm thực tế</a:t>
            </a:r>
          </a:p>
          <a:p>
            <a:pPr>
              <a:spcAft>
                <a:spcPts val="600"/>
              </a:spcAft>
              <a:defRPr sz="1300">
                <a:solidFill>
                  <a:srgbClr val="334155"/>
                </a:solidFill>
                <a:latin typeface="Arial"/>
              </a:defRPr>
            </a:pPr>
            <a:r>
              <a:t>• Bảo vệ tài khoản an toàn 100%:</a:t>
            </a:r>
          </a:p>
          <a:p>
            <a:pPr>
              <a:spcAft>
                <a:spcPts val="600"/>
              </a:spcAft>
              <a:defRPr sz="1300">
                <a:solidFill>
                  <a:srgbClr val="334155"/>
                </a:solidFill>
                <a:latin typeface="Arial"/>
              </a:defRPr>
            </a:pPr>
            <a:r>
              <a:t>  Tác vụ trùng lặp bị chặn đứng ngay ở tầng kiểm tra khóa, không thực hiện hành vi trừ tiền.</a:t>
            </a:r>
          </a:p>
          <a:p>
            <a:pPr>
              <a:spcAft>
                <a:spcPts val="600"/>
              </a:spcAft>
              <a:defRPr sz="1300">
                <a:solidFill>
                  <a:srgbClr val="334155"/>
                </a:solidFill>
                <a:latin typeface="Arial"/>
              </a:defRPr>
            </a:pPr>
            <a:r>
              <a:t>• Tối ưu trạng thái Celery (IGNORED):</a:t>
            </a:r>
          </a:p>
          <a:p>
            <a:pPr>
              <a:spcAft>
                <a:spcPts val="600"/>
              </a:spcAft>
              <a:defRPr sz="1300">
                <a:solidFill>
                  <a:srgbClr val="334155"/>
                </a:solidFill>
                <a:latin typeface="Arial"/>
              </a:defRPr>
            </a:pPr>
            <a:r>
              <a:t>  Việc sử dụng trạng thái IGNORED giúp phân biệt rõ ràng giữa 'Tác vụ lỗi' (Failure) và 'Tác vụ bị chủ động hủy bỏ để bảo vệ' (Ignored).</a:t>
            </a:r>
          </a:p>
          <a:p>
            <a:pPr>
              <a:spcAft>
                <a:spcPts val="600"/>
              </a:spcAft>
              <a:defRPr sz="1300">
                <a:solidFill>
                  <a:srgbClr val="334155"/>
                </a:solidFill>
                <a:latin typeface="Arial"/>
              </a:defRPr>
            </a:pPr>
            <a:r>
              <a:t>• Hiệu suất cao:</a:t>
            </a:r>
          </a:p>
          <a:p>
            <a:pPr>
              <a:spcAft>
                <a:spcPts val="600"/>
              </a:spcAft>
              <a:defRPr sz="1300">
                <a:solidFill>
                  <a:srgbClr val="334155"/>
                </a:solidFill>
                <a:latin typeface="Arial"/>
              </a:defRPr>
            </a:pPr>
            <a:r>
              <a:t>  Thời gian kiểm tra khóa phân tán trên RAM của Redis chỉ mất chưa đầy 1 mili-giây.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000" b="1">
                <a:solidFill>
                  <a:srgbClr val="0D9488"/>
                </a:solidFill>
                <a:latin typeface="Arial"/>
              </a:defRPr>
            </a:pPr>
            <a:r>
              <a:t>ỨNG DỤNG PHÂN TÁN (N05)</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1E3A8A"/>
                </a:solidFill>
                <a:latin typeface="Arial"/>
              </a:defRPr>
            </a:pPr>
            <a:r>
              <a:t>Tính năng nâng cao: Hàng đợi thư chết (DLQ)</a:t>
            </a:r>
          </a:p>
        </p:txBody>
      </p:sp>
      <p:sp>
        <p:nvSpPr>
          <p:cNvPr id="4" name="Rounded Rectangle 3"/>
          <p:cNvSpPr/>
          <p:nvPr/>
        </p:nvSpPr>
        <p:spPr>
          <a:xfrm>
            <a:off x="731520"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800" b="1">
                <a:solidFill>
                  <a:srgbClr val="1E3A8A"/>
                </a:solidFill>
                <a:latin typeface="Arial"/>
              </a:defRPr>
            </a:pPr>
            <a:r>
              <a:t>Đặt vấn đề: Sự không ổn định của APIs bên thứ ba</a:t>
            </a:r>
          </a:p>
          <a:p>
            <a:pPr>
              <a:spcAft>
                <a:spcPts val="600"/>
              </a:spcAft>
              <a:defRPr sz="1300">
                <a:solidFill>
                  <a:srgbClr val="334155"/>
                </a:solidFill>
                <a:latin typeface="Arial"/>
              </a:defRPr>
            </a:pPr>
            <a:r>
              <a:t>• Tình huống xảy ra:</a:t>
            </a:r>
          </a:p>
          <a:p>
            <a:pPr>
              <a:spcAft>
                <a:spcPts val="600"/>
              </a:spcAft>
              <a:defRPr sz="1300">
                <a:solidFill>
                  <a:srgbClr val="334155"/>
                </a:solidFill>
                <a:latin typeface="Arial"/>
              </a:defRPr>
            </a:pPr>
            <a:r>
              <a:t>  Worker xử lý tác vụ đồng bộ thông tin đơn hàng hoặc gọi API thanh toán của bên thứ ba, nhưng đối tác bị mất kết nối mạng hoặc sập máy chủ tạm thời.</a:t>
            </a:r>
          </a:p>
          <a:p>
            <a:pPr>
              <a:spcAft>
                <a:spcPts val="600"/>
              </a:spcAft>
              <a:defRPr sz="1300">
                <a:solidFill>
                  <a:srgbClr val="334155"/>
                </a:solidFill>
                <a:latin typeface="Arial"/>
              </a:defRPr>
            </a:pPr>
            <a:r>
              <a:t>• Rủi ro mất mát dữ liệu:</a:t>
            </a:r>
          </a:p>
          <a:p>
            <a:pPr>
              <a:spcAft>
                <a:spcPts val="600"/>
              </a:spcAft>
              <a:defRPr sz="1300">
                <a:solidFill>
                  <a:srgbClr val="334155"/>
                </a:solidFill>
                <a:latin typeface="Arial"/>
              </a:defRPr>
            </a:pPr>
            <a:r>
              <a:t>  Nếu tác vụ lập tức bị coi là thất bại, dữ liệu đơn hàng sẽ bị mất hoặc để lại trạng thái lỗi hệ thống.</a:t>
            </a:r>
          </a:p>
          <a:p>
            <a:pPr>
              <a:spcAft>
                <a:spcPts val="600"/>
              </a:spcAft>
              <a:defRPr sz="1300">
                <a:solidFill>
                  <a:srgbClr val="334155"/>
                </a:solidFill>
                <a:latin typeface="Arial"/>
              </a:defRPr>
            </a:pPr>
            <a:r>
              <a:t>• Yêu cầu giải pháp:</a:t>
            </a:r>
          </a:p>
          <a:p>
            <a:pPr>
              <a:spcAft>
                <a:spcPts val="600"/>
              </a:spcAft>
              <a:defRPr sz="1300">
                <a:solidFill>
                  <a:srgbClr val="334155"/>
                </a:solidFill>
                <a:latin typeface="Arial"/>
              </a:defRPr>
            </a:pPr>
            <a:r>
              <a:t>  Worker cần tự động thử lại (Retry). Nếu thử lại hết lượt mà vẫn lỗi, phải lưu trữ thông tin lỗi an toàn để xử lý lại.</a:t>
            </a:r>
          </a:p>
        </p:txBody>
      </p:sp>
      <p:sp>
        <p:nvSpPr>
          <p:cNvPr id="5" name="Rounded Rectangle 4"/>
          <p:cNvSpPr/>
          <p:nvPr/>
        </p:nvSpPr>
        <p:spPr>
          <a:xfrm>
            <a:off x="6339535"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800" b="1">
                <a:solidFill>
                  <a:srgbClr val="0D9488"/>
                </a:solidFill>
                <a:latin typeface="Arial"/>
              </a:defRPr>
            </a:pPr>
            <a:r>
              <a:t>Ý niệm về Hàng đợi thư chết (Dead Letter Queue)</a:t>
            </a:r>
          </a:p>
          <a:p>
            <a:pPr>
              <a:spcAft>
                <a:spcPts val="600"/>
              </a:spcAft>
              <a:defRPr sz="1300">
                <a:solidFill>
                  <a:srgbClr val="334155"/>
                </a:solidFill>
                <a:latin typeface="Arial"/>
              </a:defRPr>
            </a:pPr>
            <a:r>
              <a:t>• Hàng đợi độc lập (`celery.dlq`):</a:t>
            </a:r>
          </a:p>
          <a:p>
            <a:pPr>
              <a:spcAft>
                <a:spcPts val="600"/>
              </a:spcAft>
              <a:defRPr sz="1300">
                <a:solidFill>
                  <a:srgbClr val="334155"/>
                </a:solidFill>
                <a:latin typeface="Arial"/>
              </a:defRPr>
            </a:pPr>
            <a:r>
              <a:t>  Là một hàng đợi riêng biệt trong RabbitMQ, chuyên dùng để chứa các gói tin tác vụ đã thất bại hoàn toàn sau nhiều lần thử lại.</a:t>
            </a:r>
          </a:p>
          <a:p>
            <a:pPr>
              <a:spcAft>
                <a:spcPts val="600"/>
              </a:spcAft>
              <a:defRPr sz="1300">
                <a:solidFill>
                  <a:srgbClr val="334155"/>
                </a:solidFill>
                <a:latin typeface="Arial"/>
              </a:defRPr>
            </a:pPr>
            <a:r>
              <a:t>• Bảo toàn dữ liệu lỗi:</a:t>
            </a:r>
          </a:p>
          <a:p>
            <a:pPr>
              <a:spcAft>
                <a:spcPts val="600"/>
              </a:spcAft>
              <a:defRPr sz="1300">
                <a:solidFill>
                  <a:srgbClr val="334155"/>
                </a:solidFill>
                <a:latin typeface="Arial"/>
              </a:defRPr>
            </a:pPr>
            <a:r>
              <a:t>  Gói tin chứa tham số ban đầu được giữ nguyên vẹn trong hàng đợi DLQ, không bị vứt bỏ, giúp tránh mất dữ liệu khách hàng.</a:t>
            </a:r>
          </a:p>
          <a:p>
            <a:pPr>
              <a:spcAft>
                <a:spcPts val="600"/>
              </a:spcAft>
              <a:defRPr sz="1300">
                <a:solidFill>
                  <a:srgbClr val="334155"/>
                </a:solidFill>
                <a:latin typeface="Arial"/>
              </a:defRPr>
            </a:pPr>
            <a:r>
              <a:t>• Phân tách lỗi:</a:t>
            </a:r>
          </a:p>
          <a:p>
            <a:pPr>
              <a:spcAft>
                <a:spcPts val="600"/>
              </a:spcAft>
              <a:defRPr sz="1300">
                <a:solidFill>
                  <a:srgbClr val="334155"/>
                </a:solidFill>
                <a:latin typeface="Arial"/>
              </a:defRPr>
            </a:pPr>
            <a:r>
              <a:t>  Giúp hàng đợi chính luôn thông suốt, không bị nghẽn bởi các tin nhắn liên tục bị lỗi kẹt lại.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000" b="1">
                <a:solidFill>
                  <a:srgbClr val="0D9488"/>
                </a:solidFill>
                <a:latin typeface="Arial"/>
              </a:defRPr>
            </a:pPr>
            <a:r>
              <a:t>ỨNG DỤNG PHÂN TÁN (N05)</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1E3A8A"/>
                </a:solidFill>
                <a:latin typeface="Arial"/>
              </a:defRPr>
            </a:pPr>
            <a:r>
              <a:t>Giải pháp Tự động Retry &amp; Cô lập lỗi vào DLQ</a:t>
            </a:r>
          </a:p>
        </p:txBody>
      </p:sp>
      <p:sp>
        <p:nvSpPr>
          <p:cNvPr id="4" name="Rounded Rectangle 3"/>
          <p:cNvSpPr/>
          <p:nvPr/>
        </p:nvSpPr>
        <p:spPr>
          <a:xfrm>
            <a:off x="731520"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800" b="1">
                <a:solidFill>
                  <a:srgbClr val="0D9488"/>
                </a:solidFill>
                <a:latin typeface="Arial"/>
              </a:defRPr>
            </a:pPr>
            <a:r>
              <a:t>Cơ chế tự động xử lý của hệ thống (TN6)</a:t>
            </a:r>
          </a:p>
          <a:p>
            <a:pPr>
              <a:spcAft>
                <a:spcPts val="600"/>
              </a:spcAft>
              <a:defRPr sz="1300">
                <a:solidFill>
                  <a:srgbClr val="334155"/>
                </a:solidFill>
                <a:latin typeface="Arial"/>
              </a:defRPr>
            </a:pPr>
            <a:r>
              <a:t>1. Tác vụ Flaky lỗi mạng -&gt; Tự động thử lại (max_retries=3, tổng cộng 4 lần chạy thử).</a:t>
            </a:r>
          </a:p>
          <a:p>
            <a:pPr>
              <a:spcAft>
                <a:spcPts val="600"/>
              </a:spcAft>
              <a:defRPr sz="1300">
                <a:solidFill>
                  <a:srgbClr val="334155"/>
                </a:solidFill>
                <a:latin typeface="Arial"/>
              </a:defRPr>
            </a:pPr>
            <a:r>
              <a:t>2. Đếm ngược thử lại: Mỗi lần cách nhau 5 giây để đợi mạng hoặc API đối tác phục hồi.</a:t>
            </a:r>
          </a:p>
          <a:p>
            <a:pPr>
              <a:spcAft>
                <a:spcPts val="600"/>
              </a:spcAft>
              <a:defRPr sz="1300">
                <a:solidFill>
                  <a:srgbClr val="334155"/>
                </a:solidFill>
                <a:latin typeface="Arial"/>
              </a:defRPr>
            </a:pPr>
            <a:r>
              <a:t>3. Khi đạt giới hạn 4 lần vẫn lỗi -&gt; Hệ thống tự động kích hoạt đẩy thông tin lỗi vào hàng đợi celery.dlq.</a:t>
            </a:r>
          </a:p>
          <a:p>
            <a:pPr>
              <a:spcAft>
                <a:spcPts val="600"/>
              </a:spcAft>
              <a:defRPr sz="1300">
                <a:solidFill>
                  <a:srgbClr val="334155"/>
                </a:solidFill>
                <a:latin typeface="Arial"/>
              </a:defRPr>
            </a:pPr>
            <a:r>
              <a:t>4. Bắn thông báo tự động (Slack/Telegram) báo cáo sự cố kèm mã lỗi cho Quản trị viên.</a:t>
            </a:r>
          </a:p>
        </p:txBody>
      </p:sp>
      <p:sp>
        <p:nvSpPr>
          <p:cNvPr id="5" name="Rounded Rectangle 4"/>
          <p:cNvSpPr/>
          <p:nvPr/>
        </p:nvSpPr>
        <p:spPr>
          <a:xfrm>
            <a:off x="6339535"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800" b="1">
                <a:solidFill>
                  <a:srgbClr val="7C3AED"/>
                </a:solidFill>
                <a:latin typeface="Arial"/>
              </a:defRPr>
            </a:pPr>
            <a:r>
              <a:t>Kết quả &amp; Tính thực tiễn</a:t>
            </a:r>
          </a:p>
          <a:p>
            <a:pPr>
              <a:spcAft>
                <a:spcPts val="600"/>
              </a:spcAft>
              <a:defRPr sz="1300">
                <a:solidFill>
                  <a:srgbClr val="334155"/>
                </a:solidFill>
                <a:latin typeface="Arial"/>
              </a:defRPr>
            </a:pPr>
            <a:r>
              <a:t>• Bảo toàn tuyệt đối dữ liệu:</a:t>
            </a:r>
          </a:p>
          <a:p>
            <a:pPr>
              <a:spcAft>
                <a:spcPts val="600"/>
              </a:spcAft>
              <a:defRPr sz="1300">
                <a:solidFill>
                  <a:srgbClr val="334155"/>
                </a:solidFill>
                <a:latin typeface="Arial"/>
              </a:defRPr>
            </a:pPr>
            <a:r>
              <a:t>  Tin nhắn lỗi được cô lập an toàn trong RabbitMQ (chứa tham số thô dạng JSON).</a:t>
            </a:r>
          </a:p>
          <a:p>
            <a:pPr>
              <a:spcAft>
                <a:spcPts val="600"/>
              </a:spcAft>
              <a:defRPr sz="1300">
                <a:solidFill>
                  <a:srgbClr val="334155"/>
                </a:solidFill>
                <a:latin typeface="Arial"/>
              </a:defRPr>
            </a:pPr>
            <a:r>
              <a:t>• Giải phóng và xử lý lại (Ack / Replay):</a:t>
            </a:r>
          </a:p>
          <a:p>
            <a:pPr>
              <a:spcAft>
                <a:spcPts val="600"/>
              </a:spcAft>
              <a:defRPr sz="1300">
                <a:solidFill>
                  <a:srgbClr val="334155"/>
                </a:solidFill>
                <a:latin typeface="Arial"/>
              </a:defRPr>
            </a:pPr>
            <a:r>
              <a:t>  Khi API đối tác sửa xong, Quản trị viên chỉ cần ấn nút 'Giải phóng DLQ' để lấy toàn bộ các đơn kẹt ra xử lý lại hàng loạt cùng lúc.</a:t>
            </a:r>
          </a:p>
          <a:p>
            <a:pPr>
              <a:spcAft>
                <a:spcPts val="600"/>
              </a:spcAft>
              <a:defRPr sz="1300">
                <a:solidFill>
                  <a:srgbClr val="334155"/>
                </a:solidFill>
                <a:latin typeface="Arial"/>
              </a:defRPr>
            </a:pPr>
            <a:r>
              <a:t>• Giám sát trực quan:</a:t>
            </a:r>
          </a:p>
          <a:p>
            <a:pPr>
              <a:spcAft>
                <a:spcPts val="600"/>
              </a:spcAft>
              <a:defRPr sz="1300">
                <a:solidFill>
                  <a:srgbClr val="334155"/>
                </a:solidFill>
                <a:latin typeface="Arial"/>
              </a:defRPr>
            </a:pPr>
            <a:r>
              <a:t>  Dashboard và RabbitMQ hiển thị chuẩn xác số lượng tin nhắn lỗi đang bị cô lập trong DLQ.</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000" b="1">
                <a:solidFill>
                  <a:srgbClr val="0D9488"/>
                </a:solidFill>
                <a:latin typeface="Arial"/>
              </a:defRPr>
            </a:pPr>
            <a:r>
              <a:t>ỨNG DỤNG PHÂN TÁN (N05)</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1E3A8A"/>
                </a:solidFill>
                <a:latin typeface="Arial"/>
              </a:defRPr>
            </a:pPr>
            <a:r>
              <a:t>Tổng kết &amp; Hướng phát triển dự án</a:t>
            </a:r>
          </a:p>
        </p:txBody>
      </p:sp>
      <p:sp>
        <p:nvSpPr>
          <p:cNvPr id="4" name="Rounded Rectangle 3"/>
          <p:cNvSpPr/>
          <p:nvPr/>
        </p:nvSpPr>
        <p:spPr>
          <a:xfrm>
            <a:off x="731520"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800" b="1">
                <a:solidFill>
                  <a:srgbClr val="0D9488"/>
                </a:solidFill>
                <a:latin typeface="Arial"/>
              </a:defRPr>
            </a:pPr>
            <a:r>
              <a:t>Kết luận thực nghiệm</a:t>
            </a:r>
          </a:p>
          <a:p>
            <a:pPr>
              <a:spcAft>
                <a:spcPts val="600"/>
              </a:spcAft>
              <a:defRPr sz="1300">
                <a:solidFill>
                  <a:srgbClr val="334155"/>
                </a:solidFill>
                <a:latin typeface="Arial"/>
              </a:defRPr>
            </a:pPr>
            <a:r>
              <a:t>• Bất đồng bộ hóa thành công: FastAPI phản hồi tức thời (&lt;0.01s), Celery Worker tự động xử lý ngầm.</a:t>
            </a:r>
          </a:p>
          <a:p>
            <a:pPr>
              <a:spcAft>
                <a:spcPts val="600"/>
              </a:spcAft>
              <a:defRPr sz="1300">
                <a:solidFill>
                  <a:srgbClr val="334155"/>
                </a:solidFill>
                <a:latin typeface="Arial"/>
              </a:defRPr>
            </a:pPr>
            <a:r>
              <a:t>• Kiểm soát tranh chấp an toàn: Khóa phân tán Redis triệt tiêu hoàn toàn lỗi Race Condition thanh toán trùng lặp.</a:t>
            </a:r>
          </a:p>
          <a:p>
            <a:pPr>
              <a:spcAft>
                <a:spcPts val="600"/>
              </a:spcAft>
              <a:defRPr sz="1300">
                <a:solidFill>
                  <a:srgbClr val="334155"/>
                </a:solidFill>
                <a:latin typeface="Arial"/>
              </a:defRPr>
            </a:pPr>
            <a:r>
              <a:t>• Đảm bảo độ bền bỉ dữ liệu: Hàng đợi thư chết (DLQ) và Slack Alert giúp cách ly và xử lý sự cố API thông minh.</a:t>
            </a:r>
          </a:p>
          <a:p>
            <a:pPr>
              <a:spcAft>
                <a:spcPts val="600"/>
              </a:spcAft>
              <a:defRPr sz="1300">
                <a:solidFill>
                  <a:srgbClr val="334155"/>
                </a:solidFill>
                <a:latin typeface="Arial"/>
              </a:defRPr>
            </a:pPr>
            <a:r>
              <a:t>• Thiết kế tối giản: Dashboard tiếng Việt hỗ trợ kéo dãn bảng logs hệ thống tiện lợi.</a:t>
            </a:r>
          </a:p>
        </p:txBody>
      </p:sp>
      <p:sp>
        <p:nvSpPr>
          <p:cNvPr id="5" name="Rounded Rectangle 4"/>
          <p:cNvSpPr/>
          <p:nvPr/>
        </p:nvSpPr>
        <p:spPr>
          <a:xfrm>
            <a:off x="6339535"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800" b="1">
                <a:solidFill>
                  <a:srgbClr val="7C3AED"/>
                </a:solidFill>
                <a:latin typeface="Arial"/>
              </a:defRPr>
            </a:pPr>
            <a:r>
              <a:t>Hướng phát triển tương lai</a:t>
            </a:r>
          </a:p>
          <a:p>
            <a:pPr>
              <a:spcAft>
                <a:spcPts val="600"/>
              </a:spcAft>
              <a:defRPr sz="1300">
                <a:solidFill>
                  <a:srgbClr val="334155"/>
                </a:solidFill>
                <a:latin typeface="Arial"/>
              </a:defRPr>
            </a:pPr>
            <a:r>
              <a:t>• Auto-scaling Workers:</a:t>
            </a:r>
          </a:p>
          <a:p>
            <a:pPr>
              <a:spcAft>
                <a:spcPts val="600"/>
              </a:spcAft>
              <a:defRPr sz="1300">
                <a:solidFill>
                  <a:srgbClr val="334155"/>
                </a:solidFill>
                <a:latin typeface="Arial"/>
              </a:defRPr>
            </a:pPr>
            <a:r>
              <a:t>  Tự động scale tăng/giảm số lượng tiến trình Worker dựa trên lưu lượng hàng đợi tin nhắn trong RabbitMQ.</a:t>
            </a:r>
          </a:p>
          <a:p>
            <a:pPr>
              <a:spcAft>
                <a:spcPts val="600"/>
              </a:spcAft>
              <a:defRPr sz="1300">
                <a:solidFill>
                  <a:srgbClr val="334155"/>
                </a:solidFill>
                <a:latin typeface="Arial"/>
              </a:defRPr>
            </a:pPr>
            <a:r>
              <a:t>• Tích hợp Prometheus &amp; Grafana:</a:t>
            </a:r>
          </a:p>
          <a:p>
            <a:pPr>
              <a:spcAft>
                <a:spcPts val="600"/>
              </a:spcAft>
              <a:defRPr sz="1300">
                <a:solidFill>
                  <a:srgbClr val="334155"/>
                </a:solidFill>
                <a:latin typeface="Arial"/>
              </a:defRPr>
            </a:pPr>
            <a:r>
              <a:t>  Giám sát trực quan hóa hiệu năng của các Worker core thời gian thực thay vì sử dụng Flower cơ bản.</a:t>
            </a:r>
          </a:p>
          <a:p>
            <a:pPr>
              <a:spcAft>
                <a:spcPts val="600"/>
              </a:spcAft>
              <a:defRPr sz="1300">
                <a:solidFill>
                  <a:srgbClr val="334155"/>
                </a:solidFill>
                <a:latin typeface="Arial"/>
              </a:defRPr>
            </a:pPr>
            <a:r>
              <a:t>• Rate Limiting nâng cao:</a:t>
            </a:r>
          </a:p>
          <a:p>
            <a:pPr>
              <a:spcAft>
                <a:spcPts val="600"/>
              </a:spcAft>
              <a:defRPr sz="1300">
                <a:solidFill>
                  <a:srgbClr val="334155"/>
                </a:solidFill>
                <a:latin typeface="Arial"/>
              </a:defRPr>
            </a:pPr>
            <a:r>
              <a:t>  Cấu hình giới hạn tần suất gọi API bên thứ ba tự động để tránh bị chặn IP.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